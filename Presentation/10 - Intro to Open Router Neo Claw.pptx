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17" r:id="rId2"/>
    <p:sldId id="2618" r:id="rId3"/>
    <p:sldId id="261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tic AI: Demonstrating Key Capabilities From Fundamentals to Advanced Applications" id="{31B2E537-94AB-4818-AD5B-DE227AF2EC3D}">
          <p14:sldIdLst/>
        </p14:section>
        <p14:section name="Introduction to Agentic AI" id="{C49BADDD-771D-4879-BBAB-04CF36A28BB4}">
          <p14:sldIdLst/>
        </p14:section>
        <p14:section name="Understanding MCP (Modular Control Processes)" id="{AE2D6033-5BD2-4C0C-975F-987B2CB1F08F}">
          <p14:sldIdLst/>
        </p14:section>
        <p14:section name="MCP Versus API Approaches" id="{A0123EFC-571A-440F-A11E-54D923D7FBFD}">
          <p14:sldIdLst/>
        </p14:section>
        <p14:section name="Agentic AI - overview" id="{29DE0590-5D07-406A-ABE8-35541650A8CD}">
          <p14:sldIdLst/>
        </p14:section>
        <p14:section name="AI Agents Powered by Large Language Models (LLM)" id="{6F299B3F-1A45-45D2-8336-272CE18AB5AE}">
          <p14:sldIdLst/>
        </p14:section>
        <p14:section name="Multi-Agent Systems: Collaboration and Coordination" id="{5BE6E1D9-71EE-4E8F-B86F-276D6F0CEAE2}">
          <p14:sldIdLst/>
        </p14:section>
        <p14:section name="Orchestration (LangChain, LangGraph and LangSmith)" id="{A00559E7-9513-45CD-901E-E0C8D21FB229}">
          <p14:sldIdLst/>
        </p14:section>
        <p14:section name="Enhancing AI Agents with Tools and Memory" id="{B7FD3B18-0734-4D3F-ACFD-D69125466A69}">
          <p14:sldIdLst/>
        </p14:section>
        <p14:section name="Market Landscape: LLMs and Benchmark Comparisons" id="{1386D493-01A5-4685-A3C6-3FAE928AA4AD}">
          <p14:sldIdLst/>
        </p14:section>
        <p14:section name="Intro to Open Router / Neo Claw" id="{3472FD70-8FCE-4C09-B7CC-7511F5D13DCE}">
          <p14:sldIdLst>
            <p14:sldId id="2617"/>
            <p14:sldId id="2618"/>
          </p14:sldIdLst>
        </p14:section>
        <p14:section name="Conclusion: Empowering Intelligent Systems Through Agentic AI" id="{58F6D87E-51B4-4539-BE62-4B3225BC9928}">
          <p14:sldIdLst>
            <p14:sldId id="26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7" autoAdjust="0"/>
    <p:restoredTop sz="95593" autoAdjust="0"/>
  </p:normalViewPr>
  <p:slideViewPr>
    <p:cSldViewPr snapToGrid="0">
      <p:cViewPr varScale="1">
        <p:scale>
          <a:sx n="83" d="100"/>
          <a:sy n="83" d="100"/>
        </p:scale>
        <p:origin x="182" y="2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ekarDurvas Jayaraman" userId="dec69a9c-1923-4032-83ec-8757405c18aa" providerId="ADAL" clId="{F0E09894-DDD4-49D8-AE27-168D9AD70EBF}"/>
    <pc:docChg chg="undo custSel modSld">
      <pc:chgData name="RajasekarDurvas Jayaraman" userId="dec69a9c-1923-4032-83ec-8757405c18aa" providerId="ADAL" clId="{F0E09894-DDD4-49D8-AE27-168D9AD70EBF}" dt="2026-03-26T17:39:50.634" v="11" actId="14100"/>
      <pc:docMkLst>
        <pc:docMk/>
      </pc:docMkLst>
      <pc:sldChg chg="modSp mod">
        <pc:chgData name="RajasekarDurvas Jayaraman" userId="dec69a9c-1923-4032-83ec-8757405c18aa" providerId="ADAL" clId="{F0E09894-DDD4-49D8-AE27-168D9AD70EBF}" dt="2026-03-26T17:39:50.634" v="11" actId="14100"/>
        <pc:sldMkLst>
          <pc:docMk/>
          <pc:sldMk cId="484671881" sldId="2562"/>
        </pc:sldMkLst>
        <pc:picChg chg="mod">
          <ac:chgData name="RajasekarDurvas Jayaraman" userId="dec69a9c-1923-4032-83ec-8757405c18aa" providerId="ADAL" clId="{F0E09894-DDD4-49D8-AE27-168D9AD70EBF}" dt="2026-03-26T17:39:50.634" v="11" actId="14100"/>
          <ac:picMkLst>
            <pc:docMk/>
            <pc:sldMk cId="484671881" sldId="2562"/>
            <ac:picMk id="7" creationId="{8C8B632E-F55E-45CB-B34C-A6C42FFC982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AF2AAB-C07C-4233-8349-DE2F825C7333}"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9BABD-345A-4117-ACE9-F1DD19C1C644}" type="slidenum">
              <a:rPr lang="en-US" smtClean="0"/>
              <a:t>‹#›</a:t>
            </a:fld>
            <a:endParaRPr lang="en-US"/>
          </a:p>
        </p:txBody>
      </p:sp>
    </p:spTree>
    <p:extLst>
      <p:ext uri="{BB962C8B-B14F-4D97-AF65-F5344CB8AC3E}">
        <p14:creationId xmlns:p14="http://schemas.microsoft.com/office/powerpoint/2010/main" val="729846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B3AE3-56AE-A79E-81AB-D158A7901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4F03A-004D-15A5-87E3-528E4A0AB9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3452A9-F77C-A91F-AB02-C22078B9ACC8}"/>
              </a:ext>
            </a:extLst>
          </p:cNvPr>
          <p:cNvSpPr>
            <a:spLocks noGrp="1"/>
          </p:cNvSpPr>
          <p:nvPr>
            <p:ph type="body" idx="1"/>
          </p:nvPr>
        </p:nvSpPr>
        <p:spPr/>
        <p:txBody>
          <a:bodyPr/>
          <a:lstStyle/>
          <a:p>
            <a:r>
              <a:rPr lang="en-US"/>
              <a:t>Defining Agentic AI and Its Relevance, Core Concepts: Autonomy, Reasoning, and Action, Placeholder for Diagram: Basic Agent Architecture</a:t>
            </a:r>
          </a:p>
        </p:txBody>
      </p:sp>
      <p:sp>
        <p:nvSpPr>
          <p:cNvPr id="4" name="Slide Number Placeholder 3">
            <a:extLst>
              <a:ext uri="{FF2B5EF4-FFF2-40B4-BE49-F238E27FC236}">
                <a16:creationId xmlns:a16="http://schemas.microsoft.com/office/drawing/2014/main" id="{2EA7C150-9D4A-470E-85E9-755E80E8AA57}"/>
              </a:ext>
            </a:extLst>
          </p:cNvPr>
          <p:cNvSpPr>
            <a:spLocks noGrp="1"/>
          </p:cNvSpPr>
          <p:nvPr>
            <p:ph type="sldNum" sz="quarter" idx="5"/>
          </p:nvPr>
        </p:nvSpPr>
        <p:spPr/>
        <p:txBody>
          <a:bodyPr/>
          <a:lstStyle/>
          <a:p>
            <a:fld id="{57D851F1-7B70-4777-95B7-CF1A07BBAA04}" type="slidenum">
              <a:rPr lang="en-US" smtClean="0"/>
              <a:t>1</a:t>
            </a:fld>
            <a:endParaRPr lang="en-US"/>
          </a:p>
        </p:txBody>
      </p:sp>
    </p:spTree>
    <p:extLst>
      <p:ext uri="{BB962C8B-B14F-4D97-AF65-F5344CB8AC3E}">
        <p14:creationId xmlns:p14="http://schemas.microsoft.com/office/powerpoint/2010/main" val="998052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In summary, this presentation has explored the fundamentals and advanced applications of Agentic AI, from core concepts and MCP structures to the integration of large language models and multi-agent collaboration. We highlighted how tool integration and memory capabilities further enhance AI agents, and reviewed the competitive landscape of LLMs. Together, these insights underscore the transformative potential of agentic AI in shaping intelligent, autonomous systems for the future.</a:t>
            </a:r>
          </a:p>
        </p:txBody>
      </p:sp>
      <p:sp>
        <p:nvSpPr>
          <p:cNvPr id="4" name="Slide Number Placeholder 3"/>
          <p:cNvSpPr>
            <a:spLocks noGrp="1"/>
          </p:cNvSpPr>
          <p:nvPr>
            <p:ph type="sldNum" sz="quarter" idx="5"/>
          </p:nvPr>
        </p:nvSpPr>
        <p:spPr/>
        <p:txBody>
          <a:bodyPr/>
          <a:lstStyle/>
          <a:p>
            <a:fld id="{57D851F1-7B70-4777-95B7-CF1A07BBAA04}" type="slidenum">
              <a:rPr lang="en-US" smtClean="0"/>
              <a:t>3</a:t>
            </a:fld>
            <a:endParaRPr lang="en-US"/>
          </a:p>
        </p:txBody>
      </p:sp>
    </p:spTree>
    <p:extLst>
      <p:ext uri="{BB962C8B-B14F-4D97-AF65-F5344CB8AC3E}">
        <p14:creationId xmlns:p14="http://schemas.microsoft.com/office/powerpoint/2010/main" val="2616843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sz="1000"/>
            </a:lvl1pPr>
          </a:lstStyle>
          <a:p>
            <a:endParaRPr lang="en-US" sz="1000"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lvl1pPr>
              <a:defRPr sz="1000"/>
            </a:lvl1pPr>
          </a:lstStyle>
          <a:p>
            <a:fld id="{2953A48D-8978-4B7F-8BA5-7DDC44F9988C}" type="datetime1">
              <a:rPr lang="en-US" smtClean="0"/>
              <a:t>4/7/2026</a:t>
            </a:fld>
            <a:endParaRPr lang="en-US" sz="1000"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sz="1000"/>
            </a:lvl1pPr>
          </a:lstStyle>
          <a:p>
            <a:fld id="{AEAA3239-9EA4-4A65-A281-97F994456D9F}" type="slidenum">
              <a:rPr lang="en-US" smtClean="0"/>
              <a:pPr/>
              <a:t>‹#›</a:t>
            </a:fld>
            <a:endParaRPr lang="en-US" sz="1000" dirty="0"/>
          </a:p>
        </p:txBody>
      </p:sp>
      <p:cxnSp>
        <p:nvCxnSpPr>
          <p:cNvPr id="4" name="Straight Connector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795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676A767-B18A-4D25-AB71-95C362FFA6CA}"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19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a:lstStyle/>
          <a:p>
            <a:fld id="{8529DE94-2476-477B-981E-08C53D89AC9B}" type="datetime1">
              <a:rPr lang="en-US" smtClean="0"/>
              <a:t>4/7/2026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77360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tx1"/>
                </a:solidFill>
                <a:effectLst/>
              </a:defRPr>
            </a:lvl1pPr>
          </a:lstStyle>
          <a:p>
            <a:fld id="{EC51F7A3-E7CB-4889-B172-A123C630DC51}"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12" name="Straight Connector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3270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lvl1pPr>
              <a:defRPr>
                <a:solidFill>
                  <a:schemeClr val="tx1"/>
                </a:solidFill>
                <a:effectLst/>
              </a:defRPr>
            </a:lvl1pPr>
          </a:lstStyle>
          <a:p>
            <a:fld id="{7D8177C5-BD9A-4D23-83AF-F5B841ADF3F2}"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9" name="Straight Connector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3667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5F493D0-2A08-42DB-964D-2E1108D4CB76}"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8771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57C23FB3-0824-43FF-8EA1-707169FC13FA}"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1885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a:lstStyle/>
          <a:p>
            <a:fld id="{D26C4EF4-1425-499B-9B0A-3303E07CFD10}"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7" name="Straight Connector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940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A9FD4B53-E1EA-4DC9-BEB9-493B5BDE9305}"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375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F4D7CA4D-0419-44B1-A572-E2F0F89C5403}"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4109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3E86A8F3-65F3-4EB9-869C-76CEE4BDD77C}" type="datetime1">
              <a:rPr lang="en-US" smtClean="0"/>
              <a:t>4/7/2026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a:lstStyle>
            <a:lvl1pPr>
              <a:defRPr>
                <a:solidFill>
                  <a:schemeClr val="accent1"/>
                </a:solidFill>
              </a:defRPr>
            </a:lvl1pPr>
          </a:lstStyle>
          <a:p>
            <a:fld id="{AEAA3239-9EA4-4A65-A281-97F994456D9F}" type="slidenum">
              <a:rPr lang="en-US" smtClean="0"/>
              <a:pPr/>
              <a:t>‹#›</a:t>
            </a:fld>
            <a:endParaRPr lang="en-US" dirty="0"/>
          </a:p>
        </p:txBody>
      </p:sp>
      <p:cxnSp>
        <p:nvCxnSpPr>
          <p:cNvPr id="7" name="Straight Connector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1992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anchor="ctr">
            <a:normAutofit/>
          </a:bodyPr>
          <a:lstStyle>
            <a:lvl1pPr>
              <a:defRPr sz="3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a:lstStyle/>
          <a:p>
            <a:fld id="{8B41A39F-C131-47B8-AEC1-526A80C18BBA}" type="datetime1">
              <a:rPr lang="en-US" smtClean="0"/>
              <a:t>4/7/2026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1174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anchor="b">
            <a:normAutofit/>
          </a:bodyPr>
          <a:lstStyle>
            <a:lvl1pPr>
              <a:defRPr sz="36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a:lstStyle/>
          <a:p>
            <a:fld id="{A877CDC7-E2DA-405F-BDB4-4ED43CAA16E6}" type="datetime1">
              <a:rPr lang="en-US" smtClean="0"/>
              <a:t>4/7/2026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885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anchor="b"/>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25ECE14C-6B0B-4298-B34D-766A34529CDF}"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30125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D76CF820-C7DB-421D-8FD6-C430A9B1C2AC}"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3419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F0E63EA5-332D-4604-BD2D-34B00B234EDE}"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50363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anchor="b">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05145CA3-1D95-48B1-8239-73BFDAEAE6AF}"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52506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p>
            <a:fld id="{1B80F9BF-B0F8-4A9E-9210-E35AD48EB15E}"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229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a:lstStyle>
            <a:lvl1pPr>
              <a:defRPr>
                <a:solidFill>
                  <a:schemeClr val="tx1"/>
                </a:solidFill>
                <a:effectLst/>
              </a:defRPr>
            </a:lvl1pPr>
          </a:lstStyle>
          <a:p>
            <a:fld id="{7030F05D-1D3B-4C2E-9FFA-DE29ED956270}"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7231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anchor="t"/>
          <a:lstStyle/>
          <a:p>
            <a:r>
              <a:rPr lang="en-US" dirty="0"/>
              <a:t>Click to edit Master title style</a:t>
            </a:r>
          </a:p>
        </p:txBody>
      </p:sp>
      <p:sp>
        <p:nvSpPr>
          <p:cNvPr id="11" name="Content Placeholder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a:lstStyle>
            <a:lvl1pPr>
              <a:defRPr>
                <a:solidFill>
                  <a:schemeClr val="tx1"/>
                </a:solidFill>
                <a:effectLst/>
              </a:defRPr>
            </a:lvl1pPr>
          </a:lstStyle>
          <a:p>
            <a:fld id="{1B2FE6D2-B81D-4429-A41B-DCED2913EA16}"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478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A986E4C-26E7-40BC-8DDD-DE3A2F7C8B9D}"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56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a:lstStyle/>
          <a:p>
            <a:fld id="{F14D5DAB-1E00-43FC-9445-DAAD2ACAC73A}" type="datetime1">
              <a:rPr lang="en-US" smtClean="0"/>
              <a:t>4/7/2026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2161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anchor="t">
            <a:normAutofit/>
          </a:bodyPr>
          <a:lstStyle>
            <a:lvl1pPr>
              <a:defRPr sz="3600"/>
            </a:lvl1pPr>
          </a:lstStyle>
          <a:p>
            <a:r>
              <a:rPr lang="en-US" dirty="0"/>
              <a:t>Click to edit Master title style</a:t>
            </a:r>
          </a:p>
        </p:txBody>
      </p:sp>
      <p:sp>
        <p:nvSpPr>
          <p:cNvPr id="7" name="Content Placeholder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a:lstStyle/>
          <a:p>
            <a:fld id="{4989F924-B50F-4860-B10F-D52036B96E39}" type="datetime1">
              <a:rPr lang="en-US" smtClean="0"/>
              <a:t>4/7/2026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85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anchor="t">
            <a:normAutofit/>
          </a:bodyPr>
          <a:lstStyle>
            <a:lvl1pPr>
              <a:defRPr sz="3600"/>
            </a:lvl1pPr>
          </a:lstStyle>
          <a:p>
            <a:r>
              <a:rPr lang="en-US" dirty="0"/>
              <a:t>Click to edit Master title style</a:t>
            </a:r>
          </a:p>
        </p:txBody>
      </p:sp>
      <p:sp>
        <p:nvSpPr>
          <p:cNvPr id="13" name="Picture Placeholder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a:lstStyle>
            <a:lvl1pPr>
              <a:defRPr>
                <a:solidFill>
                  <a:schemeClr val="tx1"/>
                </a:solidFill>
                <a:effectLst/>
              </a:defRPr>
            </a:lvl1pPr>
          </a:lstStyle>
          <a:p>
            <a:fld id="{4D02379D-477C-47F0-9322-3E7981CF2222}"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3030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anchor="t">
            <a:normAutofit/>
          </a:bodyPr>
          <a:lstStyle>
            <a:lvl1pPr>
              <a:defRPr sz="36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a:lstStyle/>
          <a:p>
            <a:fld id="{30FBF84D-747E-4A2D-B74C-0D1ADB9D978A}"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lvl1pPr>
              <a:defRPr>
                <a:solidFill>
                  <a:schemeClr val="accent1"/>
                </a:solidFill>
                <a:effectLst/>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252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12F17FE-50B5-4F97-A5FE-D47BC058140D}"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8915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a:lstStyle/>
          <a:p>
            <a:fld id="{398629FA-33AC-4B91-9F50-6A34C73DB4A5}"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6544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anchor="ct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4C54EB15-C6E9-4FB2-A00E-83F3272DC203}"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1064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a:lstStyle/>
          <a:p>
            <a:fld id="{F35C560A-6694-4C54-932B-EBD007D80457}" type="datetime1">
              <a:rPr lang="en-US" smtClean="0"/>
              <a:t>4/7/2026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2212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a:lstStyle/>
          <a:p>
            <a:fld id="{101DF975-D0C4-475F-9F7C-B84D5C6D229B}" type="datetime1">
              <a:rPr lang="en-US" smtClean="0"/>
              <a:t>4/7/2026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2372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FD9AFD03-FE9C-40DF-B862-03968B25C24F}" type="datetime1">
              <a:rPr lang="en-US" smtClean="0"/>
              <a:t>4/7/2026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99710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a:lstStyle/>
          <a:p>
            <a:fld id="{2FD384AD-C61A-48D6-93CC-8F2E0CDBE1F5}" type="datetime1">
              <a:rPr lang="en-US" smtClean="0"/>
              <a:t>4/7/2026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66589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anchor="t"/>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614BD192-03A5-4A45-AA3A-3048777F9DA1}" type="datetime1">
              <a:rPr lang="en-US" smtClean="0"/>
              <a:t>4/7/2026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5060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a:lstStyle/>
          <a:p>
            <a:fld id="{688BF943-8E28-4DFB-B0DE-F00AF9279F8D}" type="datetime1">
              <a:rPr lang="en-US" smtClean="0"/>
              <a:t>4/7/2026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4041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a:lstStyle/>
          <a:p>
            <a:fld id="{14FE1444-BD57-4488-BC66-780B65504E47}" type="datetime1">
              <a:rPr lang="en-US" smtClean="0"/>
              <a:t>4/7/2026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1768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2C7D6AC0-AFBC-4BF8-914C-3A003B9A62FD}"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31578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a:lstStyle/>
          <a:p>
            <a:fld id="{2DA2328B-B1E6-45A4-86CF-8A83B4DA9E96}"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0837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anchor="b">
            <a:normAutofit/>
          </a:bodyPr>
          <a:lstStyle>
            <a:lvl1pPr algn="ctr">
              <a:lnSpc>
                <a:spcPct val="110000"/>
              </a:lnSpc>
              <a:defRPr sz="2600" b="1" i="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B38E9D8-4FC1-4DAE-99E4-835FCD288395}" type="datetime1">
              <a:rPr lang="en-US" smtClean="0"/>
              <a:t>4/7/2026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914200"/>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anchor="b"/>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40BAEB1E-5971-4FE0-8556-E58B94C51D44}" type="datetime1">
              <a:rPr lang="en-US" smtClean="0"/>
              <a:t>4/7/2026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9638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anchor="ctr"/>
          <a:lstStyle>
            <a:lvl1pPr>
              <a:lnSpc>
                <a:spcPct val="110000"/>
              </a:lnSpc>
              <a:defRPr sz="2600" b="1">
                <a:solidFill>
                  <a:schemeClr val="accent1"/>
                </a:solidFill>
                <a:latin typeface="+mn-lt"/>
              </a:defRPr>
            </a:lvl1pPr>
          </a:lstStyle>
          <a:p>
            <a:r>
              <a:rPr lang="en-US"/>
              <a:t>Click to edit Master title style</a:t>
            </a:r>
          </a:p>
        </p:txBody>
      </p:sp>
      <p:sp>
        <p:nvSpPr>
          <p:cNvPr id="9" name="Content Placeholder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a:lstStyle/>
          <a:p>
            <a:fld id="{39DFF5D4-4547-4361-B250-BFE60A41E1A4}" type="datetime1">
              <a:rPr lang="en-US" smtClean="0"/>
              <a:t>4/7/2026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6251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a:lstStyle>
            <a:lvl1pPr>
              <a:defRPr>
                <a:solidFill>
                  <a:schemeClr val="bg1"/>
                </a:solidFill>
              </a:defRPr>
            </a:lvl1pPr>
          </a:lstStyle>
          <a:p>
            <a:fld id="{4499B2AA-EA1F-4808-8C25-C8FD26324E26}" type="datetime1">
              <a:rPr lang="en-US" smtClean="0"/>
              <a:t>4/7/2026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a:lstStyle>
            <a:lvl1pPr>
              <a:lnSpc>
                <a:spcPct val="110000"/>
              </a:lnSpc>
              <a:defRPr sz="2800"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336213085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7F8C9FE2-6DE5-4BD7-B30C-85A8ECDF0918}" type="datetime1">
              <a:rPr lang="en-US" smtClean="0"/>
              <a:t>4/7/2026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712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p>
            <a:fld id="{00D39FB3-A85A-4123-936A-B01B34283303}" type="datetime1">
              <a:rPr lang="en-US" smtClean="0"/>
              <a:t>4/7/2026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59830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a:lstStyle/>
          <a:p>
            <a:fld id="{A70944E6-539A-4BC8-B250-092F2CE95E90}" type="datetime1">
              <a:rPr lang="en-US" smtClean="0"/>
              <a:t>4/7/2026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76078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630B6F89-4209-4DBA-AE92-A89C4CA08C29}" type="datetime1">
              <a:rPr lang="en-US" smtClean="0"/>
              <a:t>4/7/2026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986617"/>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anchor="b">
            <a:normAutofit/>
          </a:bodyPr>
          <a:lstStyle>
            <a:lvl1pP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9C85BD29-F703-441C-BA70-A68EA51BEFAB}" type="datetime1">
              <a:rPr lang="en-US" smtClean="0"/>
              <a:t>4/7/2026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9653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anchor="ctr">
            <a:normAutofit/>
          </a:bodyPr>
          <a:lstStyle>
            <a:lvl1pPr algn="r">
              <a:lnSpc>
                <a:spcPct val="120000"/>
              </a:lnSpc>
              <a:defRPr sz="2000" b="1" i="0" spc="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8F5B9CFA-6593-4507-A356-FB73387E9819}" type="datetime1">
              <a:rPr lang="en-US" smtClean="0"/>
              <a:t>4/7/2026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6" name="Straight Connector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82208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anchor="b">
            <a:normAutofit/>
          </a:bodyPr>
          <a:lstStyle>
            <a:lvl1pPr algn="r">
              <a:lnSpc>
                <a:spcPct val="120000"/>
              </a:lnSpc>
              <a:defRPr sz="2000" b="1" i="0" spc="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a:lstStyle/>
          <a:p>
            <a:fld id="{6DF2A675-1020-4672-8497-CDB1190FE408}" type="datetime1">
              <a:rPr lang="en-US" smtClean="0"/>
              <a:t>4/7/2026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67613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anchor="b">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tx1"/>
                </a:solidFill>
              </a:defRPr>
            </a:lvl1pPr>
          </a:lstStyle>
          <a:p>
            <a:fld id="{5B21EF61-A901-4AB4-9C45-C45E4D36F49E}"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920459"/>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anchor="b">
            <a:noAutofit/>
          </a:bodyPr>
          <a:lstStyle>
            <a:lvl1pPr>
              <a:defRPr sz="72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a:lstStyle>
            <a:lvl1pPr>
              <a:defRPr>
                <a:solidFill>
                  <a:schemeClr val="bg1"/>
                </a:solidFill>
              </a:defRPr>
            </a:lvl1pPr>
          </a:lstStyle>
          <a:p>
            <a:fld id="{E99C0E38-0B6C-4F02-AE7F-390E700470CD}" type="datetime1">
              <a:rPr lang="en-US" smtClean="0"/>
              <a:t>4/7/2026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dirty="0"/>
          </a:p>
        </p:txBody>
      </p:sp>
      <p:cxnSp>
        <p:nvCxnSpPr>
          <p:cNvPr id="3" name="Straight Connector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02078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a:lstStyle/>
          <a:p>
            <a:fld id="{833FF731-0671-4E16-83B5-1527EB111BED}" type="datetime1">
              <a:rPr lang="en-US" smtClean="0"/>
              <a:t>4/7/2026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6941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a:lstStyle/>
          <a:p>
            <a:fld id="{0522869C-8080-4F99-8FAC-1725E6C242DF}" type="datetime1">
              <a:rPr lang="en-US" smtClean="0"/>
              <a:t>4/7/2026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4" name="Straight Connector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1408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a:lstStyle/>
          <a:p>
            <a:fld id="{8DF9FB6F-4F0B-43F9-AF69-3B0CAC3B888F}" type="datetime1">
              <a:rPr lang="en-US" smtClean="0"/>
              <a:t>4/7/2026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6" name="Straight Connector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2306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a:lstStyle/>
          <a:p>
            <a:fld id="{00E5B50F-7E5E-430D-954F-DEC2717D2CC8}" type="datetime1">
              <a:rPr lang="en-US" smtClean="0"/>
              <a:t>4/7/2026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4711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a:lstStyle/>
          <a:p>
            <a:fld id="{F5570C49-D89B-4A85-81F2-2955DCD49ED2}" type="datetime1">
              <a:rPr lang="en-US" smtClean="0"/>
              <a:t>4/7/2026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9743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a:lstStyle/>
          <a:p>
            <a:fld id="{E6CFD80B-F9FB-4989-A4EB-DBB19E6671FD}" type="datetime1">
              <a:rPr lang="en-US" smtClean="0"/>
              <a:t>4/7/2026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dirty="0"/>
          </a:p>
        </p:txBody>
      </p:sp>
      <p:cxnSp>
        <p:nvCxnSpPr>
          <p:cNvPr id="8" name="Straight Connector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18966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fld id="{8FD589F1-8A4C-4250-9180-4AE033388C26}" type="datetime1">
              <a:rPr lang="en-US" smtClean="0"/>
              <a:t>4/7/2026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5430952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AE33E-1780-A9AD-0397-2BC6653B1BA5}"/>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27D6AED-6F2C-6120-2BF0-D02A88A2A59B}"/>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5E9E962D-92CF-3CB8-2183-F6ABD0AD6C39}"/>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b="0" dirty="0">
                <a:solidFill>
                  <a:srgbClr val="000000"/>
                </a:solidFill>
                <a:effectLst/>
                <a:latin typeface="Mongolian Baiti" panose="03000500000000000000" pitchFamily="66" charset="0"/>
              </a:rPr>
              <a:t>Intro</a:t>
            </a:r>
            <a:r>
              <a:rPr lang="en-US" sz="8250" b="0" dirty="0">
                <a:solidFill>
                  <a:srgbClr val="000000"/>
                </a:solidFill>
                <a:effectLst/>
                <a:latin typeface="Mongolian Baiti" panose="03000500000000000000" pitchFamily="66" charset="0"/>
              </a:rPr>
              <a:t> to Open Router,</a:t>
            </a:r>
            <a:br>
              <a:rPr lang="en-US" sz="8250" b="0" dirty="0">
                <a:solidFill>
                  <a:srgbClr val="000000"/>
                </a:solidFill>
                <a:effectLst/>
                <a:latin typeface="Mongolian Baiti" panose="03000500000000000000" pitchFamily="66" charset="0"/>
              </a:rPr>
            </a:br>
            <a:r>
              <a:rPr lang="en-US" sz="8250" b="0" dirty="0" err="1">
                <a:solidFill>
                  <a:srgbClr val="000000"/>
                </a:solidFill>
                <a:effectLst/>
                <a:latin typeface="Mongolian Baiti" panose="03000500000000000000" pitchFamily="66" charset="0"/>
              </a:rPr>
              <a:t>OpenClaw</a:t>
            </a:r>
            <a:r>
              <a:rPr lang="en-US" sz="8250" b="0" dirty="0">
                <a:solidFill>
                  <a:srgbClr val="000000"/>
                </a:solidFill>
                <a:effectLst/>
                <a:latin typeface="Mongolian Baiti" panose="03000500000000000000" pitchFamily="66" charset="0"/>
              </a:rPr>
              <a:t> and </a:t>
            </a:r>
            <a:r>
              <a:rPr lang="en-US" sz="8250" b="0" dirty="0" err="1">
                <a:solidFill>
                  <a:srgbClr val="000000"/>
                </a:solidFill>
                <a:effectLst/>
                <a:latin typeface="Mongolian Baiti" panose="03000500000000000000" pitchFamily="66" charset="0"/>
              </a:rPr>
              <a:t>NeoClaw</a:t>
            </a:r>
            <a:endParaRPr lang="en-US" dirty="0"/>
          </a:p>
        </p:txBody>
      </p:sp>
      <p:sp>
        <p:nvSpPr>
          <p:cNvPr id="6" name="Slide Number Placeholder 5">
            <a:extLst>
              <a:ext uri="{FF2B5EF4-FFF2-40B4-BE49-F238E27FC236}">
                <a16:creationId xmlns:a16="http://schemas.microsoft.com/office/drawing/2014/main" id="{098C5164-D1DB-E77F-A3DF-07DDEDAE7564}"/>
              </a:ext>
            </a:extLst>
          </p:cNvPr>
          <p:cNvSpPr>
            <a:spLocks noGrp="1"/>
          </p:cNvSpPr>
          <p:nvPr>
            <p:ph type="sldNum" sz="quarter" idx="12"/>
          </p:nvPr>
        </p:nvSpPr>
        <p:spPr/>
        <p:txBody>
          <a:bodyPr/>
          <a:lstStyle/>
          <a:p>
            <a:fld id="{AEAA3239-9EA4-4A65-A281-97F994456D9F}" type="slidenum">
              <a:rPr lang="en-US" smtClean="0"/>
              <a:t>1</a:t>
            </a:fld>
            <a:endParaRPr lang="en-US" dirty="0"/>
          </a:p>
        </p:txBody>
      </p:sp>
    </p:spTree>
    <p:extLst>
      <p:ext uri="{BB962C8B-B14F-4D97-AF65-F5344CB8AC3E}">
        <p14:creationId xmlns:p14="http://schemas.microsoft.com/office/powerpoint/2010/main" val="3201233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D92C3-647C-D10F-A107-DCAA27B633B1}"/>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2C22FCA-42CA-3DB3-998B-1D60A6BE4AEE}"/>
              </a:ext>
            </a:extLst>
          </p:cNvPr>
          <p:cNvPicPr>
            <a:picLocks noGrp="1" noChangeAspect="1"/>
          </p:cNvPicPr>
          <p:nvPr>
            <p:ph sz="quarter" idx="15"/>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BC701A1-9153-4D0A-2735-ABCBA73C246C}"/>
              </a:ext>
            </a:extLst>
          </p:cNvPr>
          <p:cNvSpPr txBox="1"/>
          <p:nvPr/>
        </p:nvSpPr>
        <p:spPr>
          <a:xfrm>
            <a:off x="1143001" y="548639"/>
            <a:ext cx="9905999" cy="502921"/>
          </a:xfrm>
          <a:prstGeom prst="rect">
            <a:avLst/>
          </a:prstGeom>
        </p:spPr>
        <p:txBody>
          <a:bodyPr vert="horz" lIns="91440" tIns="45720" rIns="91440" bIns="45720" rtlCol="0" anchor="t">
            <a:normAutofit/>
          </a:bodyPr>
          <a:lstStyle/>
          <a:p>
            <a:pPr>
              <a:lnSpc>
                <a:spcPct val="80000"/>
              </a:lnSpc>
              <a:spcBef>
                <a:spcPct val="0"/>
              </a:spcBef>
              <a:spcAft>
                <a:spcPts val="600"/>
              </a:spcAft>
            </a:pPr>
            <a:r>
              <a:rPr lang="en-US" sz="3300" dirty="0">
                <a:solidFill>
                  <a:srgbClr val="000000"/>
                </a:solidFill>
                <a:latin typeface="Mongolian Baiti" panose="03000500000000000000" pitchFamily="66" charset="0"/>
              </a:rPr>
              <a:t>Empty Slide</a:t>
            </a:r>
          </a:p>
        </p:txBody>
      </p:sp>
      <p:cxnSp>
        <p:nvCxnSpPr>
          <p:cNvPr id="2" name="Straight Connector 1">
            <a:extLst>
              <a:ext uri="{FF2B5EF4-FFF2-40B4-BE49-F238E27FC236}">
                <a16:creationId xmlns:a16="http://schemas.microsoft.com/office/drawing/2014/main" id="{184F1664-7234-14B7-9B36-12D4DD4D1E7C}"/>
              </a:ext>
            </a:extLst>
          </p:cNvPr>
          <p:cNvCxnSpPr/>
          <p:nvPr/>
        </p:nvCxnSpPr>
        <p:spPr>
          <a:xfrm>
            <a:off x="-445770" y="539115"/>
            <a:ext cx="418338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868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F8F5D56-30E6-48C4-A750-DCC4E462748E}"/>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5CF2F028-4BB5-9B6F-7DD3-4C95124EADDA}"/>
              </a:ext>
            </a:extLst>
          </p:cNvPr>
          <p:cNvSpPr>
            <a:spLocks noGrp="1"/>
          </p:cNvSpPr>
          <p:nvPr>
            <p:ph sz="quarter" idx="16"/>
          </p:nvPr>
        </p:nvSpPr>
        <p:spPr>
          <a:xfrm>
            <a:off x="733425" y="923925"/>
            <a:ext cx="10953750" cy="1340941"/>
          </a:xfrm>
        </p:spPr>
        <p:txBody>
          <a:bodyPr>
            <a:normAutofit fontScale="85000" lnSpcReduction="10000"/>
          </a:bodyPr>
          <a:lstStyle/>
          <a:p>
            <a:pPr marL="0" indent="0" algn="l">
              <a:spcBef>
                <a:spcPts val="450"/>
              </a:spcBef>
              <a:buNone/>
            </a:pPr>
            <a:r>
              <a:rPr sz="4800">
                <a:solidFill>
                  <a:srgbClr val="000000"/>
                </a:solidFill>
                <a:effectLst/>
                <a:latin typeface="Mongolian Baiti" panose="03000500000000000000" pitchFamily="66" charset="0"/>
              </a:rPr>
              <a:t>Empowering Intelligent Systems with Agentic AI</a:t>
            </a:r>
            <a:r>
              <a:rPr>
                <a:effectLst/>
              </a:rPr>
              <a:t> </a:t>
            </a:r>
            <a:endParaRPr lang="en-US"/>
          </a:p>
        </p:txBody>
      </p:sp>
      <p:sp>
        <p:nvSpPr>
          <p:cNvPr id="6" name="Slide Number Placeholder 5">
            <a:extLst>
              <a:ext uri="{FF2B5EF4-FFF2-40B4-BE49-F238E27FC236}">
                <a16:creationId xmlns:a16="http://schemas.microsoft.com/office/drawing/2014/main" id="{5D30D287-2DAD-4C91-7B84-6012302EA241}"/>
              </a:ext>
            </a:extLst>
          </p:cNvPr>
          <p:cNvSpPr>
            <a:spLocks noGrp="1"/>
          </p:cNvSpPr>
          <p:nvPr>
            <p:ph type="sldNum" sz="quarter" idx="12"/>
          </p:nvPr>
        </p:nvSpPr>
        <p:spPr/>
        <p:txBody>
          <a:bodyPr/>
          <a:lstStyle/>
          <a:p>
            <a:fld id="{AEAA3239-9EA4-4A65-A281-97F994456D9F}" type="slidenum">
              <a:rPr lang="en-US" smtClean="0"/>
              <a:t>3</a:t>
            </a:fld>
            <a:endParaRPr lang="en-US" dirty="0"/>
          </a:p>
        </p:txBody>
      </p:sp>
      <p:sp>
        <p:nvSpPr>
          <p:cNvPr id="8" name="TextBox 7">
            <a:extLst>
              <a:ext uri="{FF2B5EF4-FFF2-40B4-BE49-F238E27FC236}">
                <a16:creationId xmlns:a16="http://schemas.microsoft.com/office/drawing/2014/main" id="{FB4CD0B6-83C7-48B8-8651-ECB4B99094EB}"/>
              </a:ext>
            </a:extLst>
          </p:cNvPr>
          <p:cNvSpPr txBox="1"/>
          <p:nvPr/>
        </p:nvSpPr>
        <p:spPr>
          <a:xfrm>
            <a:off x="733425" y="3463379"/>
            <a:ext cx="2524125" cy="1674167"/>
          </a:xfrm>
          <a:prstGeom prst="rect">
            <a:avLst/>
          </a:prstGeom>
          <a:noFill/>
        </p:spPr>
        <p:txBody>
          <a:bodyPr wrap="square" rtlCol="0">
            <a:normAutofit/>
          </a:bodyPr>
          <a:lstStyle/>
          <a:p>
            <a:pPr marL="0" algn="l">
              <a:spcBef>
                <a:spcPts val="450"/>
              </a:spcBef>
              <a:buNone/>
            </a:pPr>
            <a:r>
              <a:rPr sz="1800" b="0">
                <a:solidFill>
                  <a:srgbClr val="000000"/>
                </a:solidFill>
                <a:effectLst/>
                <a:latin typeface="Mongolian Baiti" panose="03000500000000000000" pitchFamily="66" charset="0"/>
              </a:rPr>
              <a:t>Core Foundations</a:t>
            </a:r>
            <a:r>
              <a:rPr>
                <a:effectLst/>
              </a:rPr>
              <a:t> </a:t>
            </a:r>
          </a:p>
          <a:p>
            <a:pPr marL="0" algn="l">
              <a:spcBef>
                <a:spcPts val="1050"/>
              </a:spcBef>
              <a:buNone/>
            </a:pPr>
            <a:r>
              <a:rPr sz="1425" b="0">
                <a:solidFill>
                  <a:srgbClr val="000000"/>
                </a:solidFill>
                <a:effectLst/>
                <a:latin typeface="Avenir"/>
              </a:rPr>
              <a:t>From agentic concepts to MCP structures, we built a clear model for how agents plan, act, and adapt.</a:t>
            </a:r>
            <a:r>
              <a:rPr>
                <a:effectLst/>
              </a:rPr>
              <a:t> </a:t>
            </a:r>
            <a:endParaRPr lang="en-US"/>
          </a:p>
        </p:txBody>
      </p:sp>
      <p:sp>
        <p:nvSpPr>
          <p:cNvPr id="9" name="TextBox 8">
            <a:extLst>
              <a:ext uri="{FF2B5EF4-FFF2-40B4-BE49-F238E27FC236}">
                <a16:creationId xmlns:a16="http://schemas.microsoft.com/office/drawing/2014/main" id="{A85D5FFE-60E8-4CFF-948C-36B01F942B41}"/>
              </a:ext>
            </a:extLst>
          </p:cNvPr>
          <p:cNvSpPr txBox="1"/>
          <p:nvPr/>
        </p:nvSpPr>
        <p:spPr>
          <a:xfrm>
            <a:off x="3543300" y="3463379"/>
            <a:ext cx="2524125" cy="1674167"/>
          </a:xfrm>
          <a:prstGeom prst="rect">
            <a:avLst/>
          </a:prstGeom>
          <a:noFill/>
        </p:spPr>
        <p:txBody>
          <a:bodyPr wrap="square" rtlCol="0">
            <a:normAutofit/>
          </a:bodyPr>
          <a:lstStyle/>
          <a:p>
            <a:pPr marL="0" algn="l">
              <a:spcBef>
                <a:spcPts val="450"/>
              </a:spcBef>
              <a:buNone/>
            </a:pPr>
            <a:r>
              <a:rPr sz="1800" b="0">
                <a:solidFill>
                  <a:srgbClr val="000000"/>
                </a:solidFill>
                <a:effectLst/>
                <a:latin typeface="Mongolian Baiti" panose="03000500000000000000" pitchFamily="66" charset="0"/>
              </a:rPr>
              <a:t>Tools &amp; Memory</a:t>
            </a:r>
            <a:r>
              <a:rPr>
                <a:effectLst/>
              </a:rPr>
              <a:t> </a:t>
            </a:r>
          </a:p>
          <a:p>
            <a:pPr marL="0" algn="l">
              <a:spcBef>
                <a:spcPts val="1050"/>
              </a:spcBef>
              <a:buNone/>
            </a:pPr>
            <a:r>
              <a:rPr sz="1425" b="0">
                <a:solidFill>
                  <a:srgbClr val="000000"/>
                </a:solidFill>
                <a:effectLst/>
                <a:latin typeface="Avenir"/>
              </a:rPr>
              <a:t>Tool integration and memory extend capability beyond chat—enabling reliable workflows and contextual continuity.</a:t>
            </a:r>
            <a:r>
              <a:rPr>
                <a:effectLst/>
              </a:rPr>
              <a:t> </a:t>
            </a:r>
            <a:endParaRPr lang="en-US"/>
          </a:p>
        </p:txBody>
      </p:sp>
      <p:sp>
        <p:nvSpPr>
          <p:cNvPr id="10" name="TextBox 9">
            <a:extLst>
              <a:ext uri="{FF2B5EF4-FFF2-40B4-BE49-F238E27FC236}">
                <a16:creationId xmlns:a16="http://schemas.microsoft.com/office/drawing/2014/main" id="{75BB58C5-EA3D-4C27-8694-370C60893ED3}"/>
              </a:ext>
            </a:extLst>
          </p:cNvPr>
          <p:cNvSpPr txBox="1"/>
          <p:nvPr/>
        </p:nvSpPr>
        <p:spPr>
          <a:xfrm>
            <a:off x="6353175" y="3463379"/>
            <a:ext cx="2524125" cy="1948457"/>
          </a:xfrm>
          <a:prstGeom prst="rect">
            <a:avLst/>
          </a:prstGeom>
          <a:noFill/>
        </p:spPr>
        <p:txBody>
          <a:bodyPr wrap="square" rtlCol="0">
            <a:normAutofit/>
          </a:bodyPr>
          <a:lstStyle/>
          <a:p>
            <a:pPr marL="0" algn="l">
              <a:spcBef>
                <a:spcPts val="450"/>
              </a:spcBef>
              <a:buNone/>
            </a:pPr>
            <a:r>
              <a:rPr sz="1800" b="0">
                <a:solidFill>
                  <a:srgbClr val="000000"/>
                </a:solidFill>
                <a:effectLst/>
                <a:latin typeface="Mongolian Baiti" panose="03000500000000000000" pitchFamily="66" charset="0"/>
              </a:rPr>
              <a:t>Multi-Agent Collaboration</a:t>
            </a:r>
            <a:r>
              <a:rPr>
                <a:effectLst/>
              </a:rPr>
              <a:t> </a:t>
            </a:r>
          </a:p>
          <a:p>
            <a:pPr marL="0" algn="l">
              <a:spcBef>
                <a:spcPts val="1050"/>
              </a:spcBef>
              <a:buNone/>
            </a:pPr>
            <a:r>
              <a:rPr sz="1425" b="0">
                <a:solidFill>
                  <a:srgbClr val="000000"/>
                </a:solidFill>
                <a:effectLst/>
                <a:latin typeface="Avenir"/>
              </a:rPr>
              <a:t>Coordinated agents make complex work tractable through role specialization, delegation, and shared state.</a:t>
            </a:r>
            <a:r>
              <a:rPr>
                <a:effectLst/>
              </a:rPr>
              <a:t> </a:t>
            </a:r>
            <a:endParaRPr lang="en-US"/>
          </a:p>
        </p:txBody>
      </p:sp>
      <p:sp>
        <p:nvSpPr>
          <p:cNvPr id="11" name="TextBox 10">
            <a:extLst>
              <a:ext uri="{FF2B5EF4-FFF2-40B4-BE49-F238E27FC236}">
                <a16:creationId xmlns:a16="http://schemas.microsoft.com/office/drawing/2014/main" id="{8E972B20-5600-4994-9BD8-919BCB949998}"/>
              </a:ext>
            </a:extLst>
          </p:cNvPr>
          <p:cNvSpPr txBox="1"/>
          <p:nvPr/>
        </p:nvSpPr>
        <p:spPr>
          <a:xfrm>
            <a:off x="9163050" y="3463379"/>
            <a:ext cx="2524125" cy="1674167"/>
          </a:xfrm>
          <a:prstGeom prst="rect">
            <a:avLst/>
          </a:prstGeom>
          <a:noFill/>
        </p:spPr>
        <p:txBody>
          <a:bodyPr wrap="square" rtlCol="0">
            <a:normAutofit/>
          </a:bodyPr>
          <a:lstStyle/>
          <a:p>
            <a:pPr marL="0" algn="l">
              <a:spcBef>
                <a:spcPts val="450"/>
              </a:spcBef>
              <a:buNone/>
            </a:pPr>
            <a:r>
              <a:rPr sz="1800" b="0">
                <a:solidFill>
                  <a:srgbClr val="000000"/>
                </a:solidFill>
                <a:effectLst/>
                <a:latin typeface="Mongolian Baiti" panose="03000500000000000000" pitchFamily="66" charset="0"/>
              </a:rPr>
              <a:t>Practical Readiness</a:t>
            </a:r>
            <a:r>
              <a:rPr>
                <a:effectLst/>
              </a:rPr>
              <a:t> </a:t>
            </a:r>
          </a:p>
          <a:p>
            <a:pPr marL="0" algn="l">
              <a:spcBef>
                <a:spcPts val="1050"/>
              </a:spcBef>
              <a:buNone/>
            </a:pPr>
            <a:r>
              <a:rPr sz="1425" b="0">
                <a:solidFill>
                  <a:srgbClr val="000000"/>
                </a:solidFill>
                <a:effectLst/>
                <a:latin typeface="Avenir"/>
              </a:rPr>
              <a:t>Understanding the LLM landscape helps teams choose models that best support robust, autonomous systems.</a:t>
            </a:r>
            <a:r>
              <a:rPr>
                <a:effectLst/>
              </a:rPr>
              <a:t> </a:t>
            </a:r>
            <a:endParaRPr lang="en-US"/>
          </a:p>
        </p:txBody>
      </p:sp>
    </p:spTree>
    <p:extLst>
      <p:ext uri="{BB962C8B-B14F-4D97-AF65-F5344CB8AC3E}">
        <p14:creationId xmlns:p14="http://schemas.microsoft.com/office/powerpoint/2010/main" val="2568829272"/>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4" id="{62319037-9F07-4567-B4F2-AF117ABC5CCB}" vid="{0BC39864-9F70-40C9-9CA9-1A6913D50B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4835</TotalTime>
  <Words>199</Words>
  <Application>Microsoft Office PowerPoint</Application>
  <PresentationFormat>Widescreen</PresentationFormat>
  <Paragraphs>17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Arial</vt:lpstr>
      <vt:lpstr>Avenir</vt:lpstr>
      <vt:lpstr>Avenir Next LT Pro</vt:lpstr>
      <vt:lpstr>Mongolian Baiti</vt:lpstr>
      <vt:lpstr>Quick study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Rajasekar DJ</dc:creator>
  <cp:lastModifiedBy>Rajasekar DJ</cp:lastModifiedBy>
  <cp:revision>21</cp:revision>
  <dcterms:created xsi:type="dcterms:W3CDTF">2026-03-26T12:13:18Z</dcterms:created>
  <dcterms:modified xsi:type="dcterms:W3CDTF">2026-04-07T09:33:23Z</dcterms:modified>
</cp:coreProperties>
</file>